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342"/>
                </a:solidFill>
                <a:latin typeface="Arial"/>
              </a:defRPr>
            </a:pPr>
            <a:r>
              <a:rPr lang="en-US" sz="1200" b="0" i="0" u="none" strike="noStrike" dirty="0">
                <a:solidFill>
                  <a:srgbClr val="0A2342"/>
                </a:solidFill>
                <a:latin typeface="Arial"/>
              </a:rPr>
              <a:t>Top 5 Categories by Revenue ($)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(R$)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2E6-41E4-AF04-62100DA1732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2E6-41E4-AF04-62100DA1732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2E6-41E4-AF04-62100DA17325}"/>
              </c:ext>
            </c:extLst>
          </c:dPt>
          <c:dPt>
            <c:idx val="3"/>
            <c:invertIfNegative val="0"/>
            <c:bubble3D val="0"/>
            <c:spPr>
              <a:solidFill>
                <a:srgbClr val="14BD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2E6-41E4-AF04-62100DA17325}"/>
              </c:ext>
            </c:extLst>
          </c:dPt>
          <c:dPt>
            <c:idx val="4"/>
            <c:invertIfNegative val="0"/>
            <c:bubble3D val="0"/>
            <c:spPr>
              <a:solidFill>
                <a:srgbClr val="14BD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2E6-41E4-AF04-62100DA1732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Bed/Bath/Table</c:v>
                </c:pt>
                <c:pt idx="1">
                  <c:v>Health &amp; Beauty</c:v>
                </c:pt>
                <c:pt idx="2">
                  <c:v>Computers/Access.</c:v>
                </c:pt>
                <c:pt idx="3">
                  <c:v>Furniture/Décor</c:v>
                </c:pt>
                <c:pt idx="4">
                  <c:v>Watches &amp; Gifts</c:v>
                </c:pt>
              </c:strCache>
            </c:strRef>
          </c:cat>
          <c:val>
            <c:numRef>
              <c:f>Sheet1!$B$2:$B$6</c:f>
              <c:numCache>
                <c:formatCode>_("$"* #,##0_);_("$"* \(#,##0\);_("$"* "-"??_);_(@_)</c:formatCode>
                <c:ptCount val="5"/>
                <c:pt idx="0">
                  <c:v>325385</c:v>
                </c:pt>
                <c:pt idx="1">
                  <c:v>314901</c:v>
                </c:pt>
                <c:pt idx="2">
                  <c:v>301213</c:v>
                </c:pt>
                <c:pt idx="3">
                  <c:v>271733</c:v>
                </c:pt>
                <c:pt idx="4">
                  <c:v>271551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2E6-41E4-AF04-62100DA173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342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A2342"/>
                </a:solidFill>
                <a:latin typeface="Arial"/>
              </a:rPr>
              <a:t>Payment Type Split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F6F-4CFE-A092-E3320C23C628}"/>
              </c:ext>
            </c:extLst>
          </c:dPt>
          <c:dPt>
            <c:idx val="1"/>
            <c:bubble3D val="0"/>
            <c:spPr>
              <a:solidFill>
                <a:srgbClr val="0A23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F6F-4CFE-A092-E3320C23C628}"/>
              </c:ext>
            </c:extLst>
          </c:dPt>
          <c:dPt>
            <c:idx val="2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F6F-4CFE-A092-E3320C23C628}"/>
              </c:ext>
            </c:extLst>
          </c:dPt>
          <c:dPt>
            <c:idx val="3"/>
            <c:bubble3D val="0"/>
            <c:spPr>
              <a:solidFill>
                <a:srgbClr val="14BD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F6F-4CFE-A092-E3320C23C62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F6F-4CFE-A092-E3320C23C62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F6F-4CFE-A092-E3320C23C62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F6F-4CFE-A092-E3320C23C62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F6F-4CFE-A092-E3320C23C62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Credit Card</c:v>
                </c:pt>
                <c:pt idx="1">
                  <c:v>Boleto</c:v>
                </c:pt>
                <c:pt idx="2">
                  <c:v>Voucher</c:v>
                </c:pt>
                <c:pt idx="3">
                  <c:v>Debit Card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12542084</c:v>
                </c:pt>
                <c:pt idx="1">
                  <c:v>2869361</c:v>
                </c:pt>
                <c:pt idx="2">
                  <c:v>379437</c:v>
                </c:pt>
                <c:pt idx="3">
                  <c:v>217990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F6F-4CFE-A092-E3320C23C6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Revenue by State (Top 5)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(R$)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E1A-4E89-9E89-12B3D1C579D7}"/>
              </c:ext>
            </c:extLst>
          </c:dPt>
          <c:dPt>
            <c:idx val="1"/>
            <c:invertIfNegative val="0"/>
            <c:bubble3D val="0"/>
            <c:spPr>
              <a:solidFill>
                <a:srgbClr val="14BD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E1A-4E89-9E89-12B3D1C579D7}"/>
              </c:ext>
            </c:extLst>
          </c:dPt>
          <c:dPt>
            <c:idx val="2"/>
            <c:invertIfNegative val="0"/>
            <c:bubble3D val="0"/>
            <c:spPr>
              <a:solidFill>
                <a:srgbClr val="14BD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E1A-4E89-9E89-12B3D1C579D7}"/>
              </c:ext>
            </c:extLst>
          </c:dPt>
          <c:dPt>
            <c:idx val="3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E1A-4E89-9E89-12B3D1C579D7}"/>
              </c:ext>
            </c:extLst>
          </c:dPt>
          <c:dPt>
            <c:idx val="4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E1A-4E89-9E89-12B3D1C579D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SP</c:v>
                </c:pt>
                <c:pt idx="1">
                  <c:v>RJ</c:v>
                </c:pt>
                <c:pt idx="2">
                  <c:v>MG</c:v>
                </c:pt>
                <c:pt idx="3">
                  <c:v>RS</c:v>
                </c:pt>
                <c:pt idx="4">
                  <c:v>PR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1443470</c:v>
                </c:pt>
                <c:pt idx="1">
                  <c:v>526176</c:v>
                </c:pt>
                <c:pt idx="2">
                  <c:v>441969</c:v>
                </c:pt>
                <c:pt idx="3">
                  <c:v>217983</c:v>
                </c:pt>
                <c:pt idx="4">
                  <c:v>202275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E1A-4E89-9E89-12B3D1C579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B47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342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A2342"/>
                </a:solidFill>
                <a:latin typeface="Arial"/>
              </a:rPr>
              <a:t>Delivery Time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14BDB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DF8-4CB2-B0C0-3CC43DE8BB76}"/>
              </c:ext>
            </c:extLst>
          </c:dPt>
          <c:dPt>
            <c:idx val="1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DF8-4CB2-B0C0-3CC43DE8BB76}"/>
              </c:ext>
            </c:extLst>
          </c:dPt>
          <c:dPt>
            <c:idx val="2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DF8-4CB2-B0C0-3CC43DE8BB76}"/>
              </c:ext>
            </c:extLst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DF8-4CB2-B0C0-3CC43DE8BB76}"/>
              </c:ext>
            </c:extLst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DF8-4CB2-B0C0-3CC43DE8BB76}"/>
              </c:ext>
            </c:extLst>
          </c:dPt>
          <c:dPt>
            <c:idx val="5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DF8-4CB2-B0C0-3CC43DE8BB76}"/>
              </c:ext>
            </c:extLst>
          </c:dPt>
          <c:cat>
            <c:strRef>
              <c:f>Sheet1!$A$2:$A$7</c:f>
              <c:strCache>
                <c:ptCount val="6"/>
                <c:pt idx="0">
                  <c:v>0-5 days</c:v>
                </c:pt>
                <c:pt idx="1">
                  <c:v>6-10 days</c:v>
                </c:pt>
                <c:pt idx="2">
                  <c:v>11-15 days</c:v>
                </c:pt>
                <c:pt idx="3">
                  <c:v>16-20 days</c:v>
                </c:pt>
                <c:pt idx="4">
                  <c:v>21-30 days</c:v>
                </c:pt>
                <c:pt idx="5">
                  <c:v>30+ days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8200</c:v>
                </c:pt>
                <c:pt idx="1">
                  <c:v>28600</c:v>
                </c:pt>
                <c:pt idx="2">
                  <c:v>26400</c:v>
                </c:pt>
                <c:pt idx="3">
                  <c:v>16800</c:v>
                </c:pt>
                <c:pt idx="4">
                  <c:v>11900</c:v>
                </c:pt>
                <c:pt idx="5">
                  <c:v>4577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DF8-4CB2-B0C0-3CC43DE8BB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Review Score Distribution (99.2K Reviews)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1E1-4F43-9B24-4D0C25C41047}"/>
              </c:ext>
            </c:extLst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1E1-4F43-9B24-4D0C25C41047}"/>
              </c:ext>
            </c:extLst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1E1-4F43-9B24-4D0C25C41047}"/>
              </c:ext>
            </c:extLst>
          </c:dPt>
          <c:dPt>
            <c:idx val="3"/>
            <c:invertIfNegative val="0"/>
            <c:bubble3D val="0"/>
            <c:spPr>
              <a:solidFill>
                <a:srgbClr val="14BD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1E1-4F43-9B24-4D0C25C41047}"/>
              </c:ext>
            </c:extLst>
          </c:dPt>
          <c:dPt>
            <c:idx val="4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1E1-4F43-9B24-4D0C25C4104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 ★</c:v>
                </c:pt>
                <c:pt idx="1">
                  <c:v>2 ★</c:v>
                </c:pt>
                <c:pt idx="2">
                  <c:v>3 ★</c:v>
                </c:pt>
                <c:pt idx="3">
                  <c:v>4 ★</c:v>
                </c:pt>
                <c:pt idx="4">
                  <c:v>5 ★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11424</c:v>
                </c:pt>
                <c:pt idx="1">
                  <c:v>3151</c:v>
                </c:pt>
                <c:pt idx="2">
                  <c:v>8179</c:v>
                </c:pt>
                <c:pt idx="3">
                  <c:v>19142</c:v>
                </c:pt>
                <c:pt idx="4">
                  <c:v>57328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1E1-4F43-9B24-4D0C25C410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B47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A2342"/>
                </a:solidFill>
                <a:latin typeface="Arial"/>
              </a:rPr>
              <a:t>Sellers by State (Top 5)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Sellers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B76-4D92-9BAE-18882DE26944}"/>
              </c:ext>
            </c:extLst>
          </c:dPt>
          <c:dPt>
            <c:idx val="1"/>
            <c:invertIfNegative val="0"/>
            <c:bubble3D val="0"/>
            <c:spPr>
              <a:solidFill>
                <a:srgbClr val="14BD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B76-4D92-9BAE-18882DE26944}"/>
              </c:ext>
            </c:extLst>
          </c:dPt>
          <c:dPt>
            <c:idx val="2"/>
            <c:invertIfNegative val="0"/>
            <c:bubble3D val="0"/>
            <c:spPr>
              <a:solidFill>
                <a:srgbClr val="14BD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B76-4D92-9BAE-18882DE2694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B76-4D92-9BAE-18882DE26944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DB76-4D92-9BAE-18882DE2694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SP</c:v>
                </c:pt>
                <c:pt idx="1">
                  <c:v>PR</c:v>
                </c:pt>
                <c:pt idx="2">
                  <c:v>MG</c:v>
                </c:pt>
                <c:pt idx="3">
                  <c:v>SC</c:v>
                </c:pt>
                <c:pt idx="4">
                  <c:v>RJ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694</c:v>
                </c:pt>
                <c:pt idx="1">
                  <c:v>349</c:v>
                </c:pt>
                <c:pt idx="2">
                  <c:v>244</c:v>
                </c:pt>
                <c:pt idx="3">
                  <c:v>190</c:v>
                </c:pt>
                <c:pt idx="4">
                  <c:v>171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B76-4D92-9BAE-18882DE269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508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0730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0" y="0"/>
            <a:ext cx="45720" cy="51435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7724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26517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82880" y="3200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566160" y="91440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3566160" y="164592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3566160" y="2514600"/>
            <a:ext cx="5029200" cy="3657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566160" y="26517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– 2018  |  100K+ Orders  |  Power BI + SQL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566160" y="320040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Excel · SQL · Power BI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Olist Public Dataset (Kaggle)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173736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4813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99.4K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74320" y="19659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22311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2016 – Oct 2018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23160" y="914400"/>
            <a:ext cx="1965960" cy="1737360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10515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23160" y="14813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$3.0M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2423160" y="19659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423160" y="22311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payment value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914400"/>
            <a:ext cx="1965960" cy="173736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05156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0" y="14813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3,095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4572000" y="19659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Sellers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572000" y="22311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Brazil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720840" y="914400"/>
            <a:ext cx="1965960" cy="1737360"/>
          </a:xfrm>
          <a:prstGeom prst="rect">
            <a:avLst/>
          </a:prstGeom>
          <a:solidFill>
            <a:srgbClr val="1A6B6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105156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20840" y="14813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4.09</a:t>
            </a:r>
            <a:endParaRPr lang="en-US" sz="2600" dirty="0"/>
          </a:p>
        </p:txBody>
      </p:sp>
      <p:sp>
        <p:nvSpPr>
          <p:cNvPr id="22" name="Text 16"/>
          <p:cNvSpPr/>
          <p:nvPr/>
        </p:nvSpPr>
        <p:spPr>
          <a:xfrm>
            <a:off x="6720840" y="19659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Score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720840" y="22311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5.0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36576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365760" y="320040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100K+ orders from Olist, Brazil's largest e-commerce marketplace, covering 2 years of multi-seller platform data.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revenue drivers, delivery performance gaps, and customer satisfaction patterns.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actionable insights through Power BI dashboards and SQL-based querying.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754880" y="2788920"/>
            <a:ext cx="4023360" cy="2057400"/>
          </a:xfrm>
          <a:prstGeom prst="rect">
            <a:avLst/>
          </a:prstGeom>
          <a:solidFill>
            <a:srgbClr val="0A234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/>
          <p:nvPr/>
        </p:nvSpPr>
        <p:spPr>
          <a:xfrm>
            <a:off x="493776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2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291840"/>
            <a:ext cx="201168" cy="20116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66360" y="32735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 on-time delivery rate</a:t>
            </a:r>
            <a:endParaRPr lang="en-US" sz="11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630168"/>
            <a:ext cx="201168" cy="20116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166360" y="3611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card: 78% of all revenue</a:t>
            </a:r>
            <a:endParaRPr lang="en-US" sz="11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968496"/>
            <a:ext cx="201168" cy="20116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166360" y="39502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drives 47% of revenue</a:t>
            </a:r>
            <a:endParaRPr lang="en-US" sz="11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4306824"/>
            <a:ext cx="201168" cy="20116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166360" y="42885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reviews: 57% of all reviews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65960" cy="1188720"/>
          </a:xfrm>
          <a:prstGeom prst="rect">
            <a:avLst/>
          </a:prstGeom>
          <a:solidFill>
            <a:srgbClr val="132B47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64008" cy="1188720"/>
          </a:xfrm>
          <a:prstGeom prst="rect">
            <a:avLst/>
          </a:prstGeom>
          <a:solidFill>
            <a:srgbClr val="14BDB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9768" y="131673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29768" y="1591056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99,441 rows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29768" y="180136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timestamps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468880" y="914400"/>
            <a:ext cx="1965960" cy="1188720"/>
          </a:xfrm>
          <a:prstGeom prst="rect">
            <a:avLst/>
          </a:prstGeom>
          <a:solidFill>
            <a:srgbClr val="132B47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468880" y="914400"/>
            <a:ext cx="64008" cy="1188720"/>
          </a:xfrm>
          <a:prstGeom prst="rect">
            <a:avLst/>
          </a:prstGeom>
          <a:solidFill>
            <a:srgbClr val="14BDB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10058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78608" y="131673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578608" y="1591056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112,650 rows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578608" y="180136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pricing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617720" y="914400"/>
            <a:ext cx="1965960" cy="1188720"/>
          </a:xfrm>
          <a:prstGeom prst="rect">
            <a:avLst/>
          </a:prstGeom>
          <a:solidFill>
            <a:srgbClr val="132B47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4617720" y="914400"/>
            <a:ext cx="64008" cy="1188720"/>
          </a:xfrm>
          <a:prstGeom prst="rect">
            <a:avLst/>
          </a:prstGeom>
          <a:solidFill>
            <a:srgbClr val="14BDB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0584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27448" y="131673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727448" y="1591056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99,441 rows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727448" y="180136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data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6766560" y="914400"/>
            <a:ext cx="1965960" cy="1188720"/>
          </a:xfrm>
          <a:prstGeom prst="rect">
            <a:avLst/>
          </a:prstGeom>
          <a:solidFill>
            <a:srgbClr val="132B47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6766560" y="914400"/>
            <a:ext cx="64008" cy="1188720"/>
          </a:xfrm>
          <a:prstGeom prst="rect">
            <a:avLst/>
          </a:prstGeom>
          <a:solidFill>
            <a:srgbClr val="14BDB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0584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76288" y="131673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876288" y="1591056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103,886 rows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876288" y="180136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320040" y="2331720"/>
            <a:ext cx="1965960" cy="1188720"/>
          </a:xfrm>
          <a:prstGeom prst="rect">
            <a:avLst/>
          </a:prstGeom>
          <a:solidFill>
            <a:srgbClr val="132B47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320040" y="2331720"/>
            <a:ext cx="64008" cy="1188720"/>
          </a:xfrm>
          <a:prstGeom prst="rect">
            <a:avLst/>
          </a:prstGeom>
          <a:solidFill>
            <a:srgbClr val="14BDB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23160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29768" y="273405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429768" y="3008376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32,951 rows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429768" y="321868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Categories, dimensions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2468880" y="2331720"/>
            <a:ext cx="1965960" cy="1188720"/>
          </a:xfrm>
          <a:prstGeom prst="rect">
            <a:avLst/>
          </a:prstGeom>
          <a:solidFill>
            <a:srgbClr val="132B47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8"/>
          <p:cNvSpPr/>
          <p:nvPr/>
        </p:nvSpPr>
        <p:spPr>
          <a:xfrm>
            <a:off x="2468880" y="2331720"/>
            <a:ext cx="64008" cy="1188720"/>
          </a:xfrm>
          <a:prstGeom prst="rect">
            <a:avLst/>
          </a:prstGeom>
          <a:solidFill>
            <a:srgbClr val="14BDB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423160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2578608" y="273405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2578608" y="3008376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3,095 rows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2578608" y="321868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locations</a:t>
            </a:r>
            <a:endParaRPr lang="en-US" sz="800" dirty="0"/>
          </a:p>
        </p:txBody>
      </p:sp>
      <p:sp>
        <p:nvSpPr>
          <p:cNvPr id="40" name="Shape 32"/>
          <p:cNvSpPr/>
          <p:nvPr/>
        </p:nvSpPr>
        <p:spPr>
          <a:xfrm>
            <a:off x="4617720" y="2331720"/>
            <a:ext cx="1965960" cy="1188720"/>
          </a:xfrm>
          <a:prstGeom prst="rect">
            <a:avLst/>
          </a:prstGeom>
          <a:solidFill>
            <a:srgbClr val="132B47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3"/>
          <p:cNvSpPr/>
          <p:nvPr/>
        </p:nvSpPr>
        <p:spPr>
          <a:xfrm>
            <a:off x="4617720" y="2331720"/>
            <a:ext cx="64008" cy="1188720"/>
          </a:xfrm>
          <a:prstGeom prst="rect">
            <a:avLst/>
          </a:prstGeom>
          <a:solidFill>
            <a:srgbClr val="14BDB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423160"/>
            <a:ext cx="274320" cy="27432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4727448" y="273405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4727448" y="3008376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99,224 rows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4727448" y="321868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comments</a:t>
            </a:r>
            <a:endParaRPr lang="en-US" sz="800" dirty="0"/>
          </a:p>
        </p:txBody>
      </p:sp>
      <p:sp>
        <p:nvSpPr>
          <p:cNvPr id="46" name="Shape 37"/>
          <p:cNvSpPr/>
          <p:nvPr/>
        </p:nvSpPr>
        <p:spPr>
          <a:xfrm>
            <a:off x="6766560" y="2331720"/>
            <a:ext cx="1965960" cy="1188720"/>
          </a:xfrm>
          <a:prstGeom prst="rect">
            <a:avLst/>
          </a:prstGeom>
          <a:solidFill>
            <a:srgbClr val="132B47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38"/>
          <p:cNvSpPr/>
          <p:nvPr/>
        </p:nvSpPr>
        <p:spPr>
          <a:xfrm>
            <a:off x="6766560" y="2331720"/>
            <a:ext cx="64008" cy="1188720"/>
          </a:xfrm>
          <a:prstGeom prst="rect">
            <a:avLst/>
          </a:prstGeom>
          <a:solidFill>
            <a:srgbClr val="14BDB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423160"/>
            <a:ext cx="274320" cy="27432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6876288" y="273405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translation</a:t>
            </a:r>
          </a:p>
        </p:txBody>
      </p:sp>
      <p:sp>
        <p:nvSpPr>
          <p:cNvPr id="50" name="Text 40"/>
          <p:cNvSpPr/>
          <p:nvPr/>
        </p:nvSpPr>
        <p:spPr>
          <a:xfrm>
            <a:off x="6876288" y="3008376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rows</a:t>
            </a:r>
            <a:endParaRPr lang="en-US" sz="900" dirty="0"/>
          </a:p>
        </p:txBody>
      </p:sp>
      <p:sp>
        <p:nvSpPr>
          <p:cNvPr id="51" name="Text 41"/>
          <p:cNvSpPr/>
          <p:nvPr/>
        </p:nvSpPr>
        <p:spPr>
          <a:xfrm>
            <a:off x="6876288" y="321868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translations</a:t>
            </a:r>
            <a:endParaRPr lang="en-US" sz="800" dirty="0"/>
          </a:p>
        </p:txBody>
      </p:sp>
      <p:sp>
        <p:nvSpPr>
          <p:cNvPr id="52" name="Text 42"/>
          <p:cNvSpPr/>
          <p:nvPr/>
        </p:nvSpPr>
        <p:spPr>
          <a:xfrm>
            <a:off x="365760" y="44805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</a:t>
            </a:r>
            <a:endParaRPr lang="en-US" sz="1000" dirty="0"/>
          </a:p>
        </p:txBody>
      </p:sp>
      <p:sp>
        <p:nvSpPr>
          <p:cNvPr id="53" name="Shape 43"/>
          <p:cNvSpPr/>
          <p:nvPr/>
        </p:nvSpPr>
        <p:spPr>
          <a:xfrm>
            <a:off x="1600200" y="4489704"/>
            <a:ext cx="1600200" cy="25603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44"/>
          <p:cNvSpPr/>
          <p:nvPr/>
        </p:nvSpPr>
        <p:spPr>
          <a:xfrm>
            <a:off x="1600200" y="448970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900" dirty="0"/>
          </a:p>
        </p:txBody>
      </p:sp>
      <p:sp>
        <p:nvSpPr>
          <p:cNvPr id="55" name="Shape 45"/>
          <p:cNvSpPr/>
          <p:nvPr/>
        </p:nvSpPr>
        <p:spPr>
          <a:xfrm>
            <a:off x="3429000" y="4489704"/>
            <a:ext cx="1600200" cy="25603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46"/>
          <p:cNvSpPr/>
          <p:nvPr/>
        </p:nvSpPr>
        <p:spPr>
          <a:xfrm>
            <a:off x="3429000" y="448970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SQL</a:t>
            </a:r>
            <a:endParaRPr lang="en-US" sz="900" dirty="0"/>
          </a:p>
        </p:txBody>
      </p:sp>
      <p:sp>
        <p:nvSpPr>
          <p:cNvPr id="57" name="Shape 47"/>
          <p:cNvSpPr/>
          <p:nvPr/>
        </p:nvSpPr>
        <p:spPr>
          <a:xfrm>
            <a:off x="5257800" y="4489704"/>
            <a:ext cx="1600200" cy="25603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48"/>
          <p:cNvSpPr/>
          <p:nvPr/>
        </p:nvSpPr>
        <p:spPr>
          <a:xfrm>
            <a:off x="5257800" y="448970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00" dirty="0"/>
          </a:p>
        </p:txBody>
      </p:sp>
      <p:sp>
        <p:nvSpPr>
          <p:cNvPr id="59" name="Shape 49"/>
          <p:cNvSpPr/>
          <p:nvPr/>
        </p:nvSpPr>
        <p:spPr>
          <a:xfrm>
            <a:off x="7086600" y="4489704"/>
            <a:ext cx="1600200" cy="25603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0"/>
          <p:cNvSpPr/>
          <p:nvPr/>
        </p:nvSpPr>
        <p:spPr>
          <a:xfrm>
            <a:off x="7086600" y="448970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50574191"/>
              </p:ext>
            </p:extLst>
          </p:nvPr>
        </p:nvGraphicFramePr>
        <p:xfrm>
          <a:off x="274320" y="822960"/>
          <a:ext cx="53035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760720" y="822960"/>
          <a:ext cx="31089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114800"/>
            <a:ext cx="8595360" cy="777240"/>
          </a:xfrm>
          <a:prstGeom prst="rect">
            <a:avLst/>
          </a:prstGeom>
          <a:solidFill>
            <a:srgbClr val="0A2342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/>
          <p:nvPr/>
        </p:nvSpPr>
        <p:spPr>
          <a:xfrm>
            <a:off x="914400" y="4133088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Bed/Bath/Table and Health &amp; Beauty dominate revenue — both are high-frequency, repeat-purchase categories. Credit card accounts for 78% of revenue, reflecting Brazil's installment-driven purchasing culture.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Distribution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769841954"/>
              </p:ext>
            </p:extLst>
          </p:nvPr>
        </p:nvGraphicFramePr>
        <p:xfrm>
          <a:off x="274320" y="82296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914400"/>
            <a:ext cx="3200400" cy="1143000"/>
          </a:xfrm>
          <a:prstGeom prst="rect">
            <a:avLst/>
          </a:prstGeom>
          <a:solidFill>
            <a:srgbClr val="132B47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669280" y="914400"/>
            <a:ext cx="64008" cy="11430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024128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7920" y="9875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6217920" y="14813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· 47.5% of revenue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669280" y="2240280"/>
            <a:ext cx="3200400" cy="1143000"/>
          </a:xfrm>
          <a:prstGeom prst="rect">
            <a:avLst/>
          </a:prstGeom>
          <a:solidFill>
            <a:srgbClr val="132B47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5669280" y="2240280"/>
            <a:ext cx="64008" cy="11430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35000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7920" y="23134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6217920" y="28072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 · 17.3% of revenue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669280" y="3566160"/>
            <a:ext cx="3200400" cy="1143000"/>
          </a:xfrm>
          <a:prstGeom prst="rect">
            <a:avLst/>
          </a:prstGeom>
          <a:solidFill>
            <a:srgbClr val="132B47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5669280" y="3566160"/>
            <a:ext cx="64008" cy="11430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675888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17920" y="36393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2400" dirty="0"/>
          </a:p>
        </p:txBody>
      </p:sp>
      <p:sp>
        <p:nvSpPr>
          <p:cNvPr id="19" name="Text 13"/>
          <p:cNvSpPr/>
          <p:nvPr/>
        </p:nvSpPr>
        <p:spPr>
          <a:xfrm>
            <a:off x="6217920" y="41330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Minas Gerais · 14.5% of revenue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132B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5"/>
          <p:cNvSpPr/>
          <p:nvPr/>
        </p:nvSpPr>
        <p:spPr>
          <a:xfrm>
            <a:off x="850392" y="425196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Southeast Brazil (SP+RJ+MG) accounts for ~79% of revenue. Opportunity: expand seller/buyer reach into Northern and Central-West regions.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560320" cy="1463040"/>
          </a:xfrm>
          <a:prstGeom prst="rect">
            <a:avLst/>
          </a:prstGeom>
          <a:solidFill>
            <a:srgbClr val="0A234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2560320" cy="640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914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 days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6576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822960"/>
            <a:ext cx="2560320" cy="1463040"/>
          </a:xfrm>
          <a:prstGeom prst="rect">
            <a:avLst/>
          </a:prstGeom>
          <a:solidFill>
            <a:srgbClr val="1A3D2B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200400" y="822960"/>
            <a:ext cx="2560320" cy="64008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9601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914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320040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822960"/>
            <a:ext cx="2560320" cy="1463040"/>
          </a:xfrm>
          <a:prstGeom prst="rect">
            <a:avLst/>
          </a:prstGeom>
          <a:solidFill>
            <a:srgbClr val="3D2D0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035040" y="822960"/>
            <a:ext cx="2560320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9601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75120" y="914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603504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</a:t>
            </a:r>
            <a:endParaRPr lang="en-US" sz="10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274320" y="2423160"/>
          <a:ext cx="53035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0" name="Shape 14"/>
          <p:cNvSpPr/>
          <p:nvPr/>
        </p:nvSpPr>
        <p:spPr>
          <a:xfrm>
            <a:off x="5760720" y="2423160"/>
            <a:ext cx="3108960" cy="2514600"/>
          </a:xfrm>
          <a:prstGeom prst="rect">
            <a:avLst/>
          </a:prstGeom>
          <a:solidFill>
            <a:srgbClr val="0A234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/>
          <p:nvPr/>
        </p:nvSpPr>
        <p:spPr>
          <a:xfrm>
            <a:off x="594360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3017520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199632" y="29992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orders delivered within 6–15 days</a:t>
            </a:r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3474720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199632" y="34564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 correlate with Northern states</a:t>
            </a:r>
            <a:endParaRPr lang="en-US" sz="10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3931920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199632" y="39136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~4.5K orders took 30+ days — review risk</a:t>
            </a:r>
            <a:endParaRPr lang="en-US" sz="10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4389120"/>
            <a:ext cx="182880" cy="18288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199632" y="43708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delivery linked to higher review scores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22960"/>
          <a:ext cx="5029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914400"/>
            <a:ext cx="3200400" cy="822960"/>
          </a:xfrm>
          <a:prstGeom prst="rect">
            <a:avLst/>
          </a:prstGeom>
          <a:solidFill>
            <a:srgbClr val="132B4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09728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36208" y="9784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57.3%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236208" y="14173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Reviews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669280" y="1874520"/>
            <a:ext cx="3200400" cy="822960"/>
          </a:xfrm>
          <a:prstGeom prst="rect">
            <a:avLst/>
          </a:prstGeom>
          <a:solidFill>
            <a:srgbClr val="132B4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05740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36208" y="19385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19.2%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6236208" y="23774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4-Star Reviews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669280" y="2834640"/>
            <a:ext cx="3200400" cy="822960"/>
          </a:xfrm>
          <a:prstGeom prst="rect">
            <a:avLst/>
          </a:prstGeom>
          <a:solidFill>
            <a:srgbClr val="132B4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301752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36208" y="28986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6236208" y="33375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1-Star Reviews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5669280" y="3794760"/>
            <a:ext cx="3200400" cy="822960"/>
          </a:xfrm>
          <a:prstGeom prst="rect">
            <a:avLst/>
          </a:prstGeom>
          <a:solidFill>
            <a:srgbClr val="132B4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3977640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36208" y="38587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4.09</a:t>
            </a:r>
            <a:endParaRPr lang="en-US" sz="2200" dirty="0"/>
          </a:p>
        </p:txBody>
      </p:sp>
      <p:sp>
        <p:nvSpPr>
          <p:cNvPr id="20" name="Text 13"/>
          <p:cNvSpPr/>
          <p:nvPr/>
        </p:nvSpPr>
        <p:spPr>
          <a:xfrm>
            <a:off x="6236208" y="4297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 / 5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320040" y="4014216"/>
            <a:ext cx="5029200" cy="603504"/>
          </a:xfrm>
          <a:prstGeom prst="rect">
            <a:avLst/>
          </a:prstGeom>
          <a:solidFill>
            <a:srgbClr val="132B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5"/>
          <p:cNvSpPr/>
          <p:nvPr/>
        </p:nvSpPr>
        <p:spPr>
          <a:xfrm>
            <a:off x="283464" y="4031096"/>
            <a:ext cx="5065776" cy="5866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A strong 57% 5-star rate confirms platform quality. However, 11.4% 1-star reviews — primarily tied to late deliveries and missing items — represent a significant loyalty risk. Addressing the bottom delivery failures directly improves this metric.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Ecosystem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965960" cy="1554480"/>
          </a:xfrm>
          <a:prstGeom prst="rect">
            <a:avLst/>
          </a:prstGeom>
          <a:solidFill>
            <a:srgbClr val="0A234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8755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3898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3,095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0040" y="18105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Sellers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0040" y="206654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68880" y="868680"/>
            <a:ext cx="1965960" cy="1554480"/>
          </a:xfrm>
          <a:prstGeom prst="rect">
            <a:avLst/>
          </a:prstGeom>
          <a:solidFill>
            <a:srgbClr val="0A234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98755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68880" y="13898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2468880" y="18105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Seller State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468880" y="206654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~22% of sellers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617720" y="868680"/>
            <a:ext cx="1965960" cy="1554480"/>
          </a:xfrm>
          <a:prstGeom prst="rect">
            <a:avLst/>
          </a:prstGeom>
          <a:solidFill>
            <a:srgbClr val="0A234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98755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7720" y="13898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4617720" y="18105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Orders/Seller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617720" y="206654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seller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766560" y="868680"/>
            <a:ext cx="1965960" cy="1554480"/>
          </a:xfrm>
          <a:prstGeom prst="rect">
            <a:avLst/>
          </a:prstGeom>
          <a:solidFill>
            <a:srgbClr val="0A234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98755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66560" y="13898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R$5.2K</a:t>
            </a:r>
            <a:r>
              <a:rPr lang="en-IN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$990 </a:t>
            </a:r>
            <a:endParaRPr lang="en-US" sz="22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766560" y="18105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Revenue/Seller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766560" y="206654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20040" y="2606040"/>
            <a:ext cx="8503920" cy="594360"/>
          </a:xfrm>
          <a:prstGeom prst="rect">
            <a:avLst/>
          </a:prstGeom>
          <a:solidFill>
            <a:srgbClr val="FFF9E6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/>
          <p:nvPr/>
        </p:nvSpPr>
        <p:spPr>
          <a:xfrm>
            <a:off x="896112" y="265176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Top 10% of sellers contribute ~65% of total order volume — high concentration creates platform dependency risk.</a:t>
            </a:r>
            <a:endParaRPr lang="en-US" sz="10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320040" y="3337560"/>
          <a:ext cx="50292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8" name="Shape 20"/>
          <p:cNvSpPr/>
          <p:nvPr/>
        </p:nvSpPr>
        <p:spPr>
          <a:xfrm>
            <a:off x="5577840" y="3337560"/>
            <a:ext cx="3291840" cy="16002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1"/>
          <p:cNvSpPr/>
          <p:nvPr/>
        </p:nvSpPr>
        <p:spPr>
          <a:xfrm>
            <a:off x="5760720" y="3429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Insights</a:t>
            </a:r>
            <a:endParaRPr lang="en-US" sz="12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3858768"/>
            <a:ext cx="164592" cy="16459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98932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alone = 22% of all sellers</a:t>
            </a:r>
            <a:endParaRPr lang="en-US" sz="9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4206240"/>
            <a:ext cx="164592" cy="16459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989320" y="41879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South/Southeast = 85% of all sellers</a:t>
            </a:r>
            <a:endParaRPr lang="en-US" sz="9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4553712"/>
            <a:ext cx="164592" cy="16459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5989320" y="45354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Northern sellers would cut delivery time for remote regions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34747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4114800" cy="347472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937760" y="8503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4114800" cy="566928"/>
          </a:xfrm>
          <a:prstGeom prst="rect">
            <a:avLst/>
          </a:prstGeom>
          <a:solidFill>
            <a:srgbClr val="132B47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0817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3716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concentrated in 5 categories; diversification possible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1965960"/>
            <a:ext cx="4114800" cy="566928"/>
          </a:xfrm>
          <a:prstGeom prst="rect">
            <a:avLst/>
          </a:prstGeom>
          <a:solidFill>
            <a:srgbClr val="132B47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07568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" y="203911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imbalance: ~80% revenue from Southeast Brazil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74320" y="2633472"/>
            <a:ext cx="4114800" cy="566928"/>
          </a:xfrm>
          <a:prstGeom prst="rect">
            <a:avLst/>
          </a:prstGeom>
          <a:solidFill>
            <a:srgbClr val="132B47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7432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270662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late delivery rate tied to Northern states &amp; remote areas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274320" y="3300984"/>
            <a:ext cx="4114800" cy="566928"/>
          </a:xfrm>
          <a:prstGeom prst="rect">
            <a:avLst/>
          </a:prstGeom>
          <a:solidFill>
            <a:srgbClr val="132B47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4107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" y="337413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is high but 1-star reviews spike with late deliveries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274320" y="3968496"/>
            <a:ext cx="4114800" cy="566928"/>
          </a:xfrm>
          <a:prstGeom prst="rect">
            <a:avLst/>
          </a:prstGeom>
          <a:solidFill>
            <a:srgbClr val="132B47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078224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77240" y="404164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sellers drive 65% of orders — concentration risk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754880" y="1298448"/>
            <a:ext cx="4114800" cy="566928"/>
          </a:xfrm>
          <a:prstGeom prst="rect">
            <a:avLst/>
          </a:prstGeom>
          <a:solidFill>
            <a:srgbClr val="2A1F00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1408176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257800" y="13716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targeted promotions in emerging categories (sports, toys)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4754880" y="1965960"/>
            <a:ext cx="4114800" cy="566928"/>
          </a:xfrm>
          <a:prstGeom prst="rect">
            <a:avLst/>
          </a:prstGeom>
          <a:solidFill>
            <a:srgbClr val="2A1F00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2075688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257800" y="203911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Northern logistics providers to cut delivery time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4754880" y="2633472"/>
            <a:ext cx="4114800" cy="566928"/>
          </a:xfrm>
          <a:prstGeom prst="rect">
            <a:avLst/>
          </a:prstGeom>
          <a:solidFill>
            <a:srgbClr val="2A1F00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2743200"/>
            <a:ext cx="274320" cy="27432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257800" y="270662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proactive SMS alerts for at-risk late deliveries</a:t>
            </a:r>
            <a:endParaRPr lang="en-US" sz="1000" dirty="0"/>
          </a:p>
        </p:txBody>
      </p:sp>
      <p:sp>
        <p:nvSpPr>
          <p:cNvPr id="32" name="Shape 22"/>
          <p:cNvSpPr/>
          <p:nvPr/>
        </p:nvSpPr>
        <p:spPr>
          <a:xfrm>
            <a:off x="4754880" y="3300984"/>
            <a:ext cx="4114800" cy="566928"/>
          </a:xfrm>
          <a:prstGeom prst="rect">
            <a:avLst/>
          </a:prstGeom>
          <a:solidFill>
            <a:srgbClr val="2A1F00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3410712"/>
            <a:ext cx="274320" cy="27432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257800" y="337413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seller incentive programme to diversify seller base</a:t>
            </a:r>
            <a:endParaRPr lang="en-US" sz="1000" dirty="0"/>
          </a:p>
        </p:txBody>
      </p:sp>
      <p:sp>
        <p:nvSpPr>
          <p:cNvPr id="35" name="Shape 24"/>
          <p:cNvSpPr/>
          <p:nvPr/>
        </p:nvSpPr>
        <p:spPr>
          <a:xfrm>
            <a:off x="4754880" y="3968496"/>
            <a:ext cx="4114800" cy="566928"/>
          </a:xfrm>
          <a:prstGeom prst="rect">
            <a:avLst/>
          </a:prstGeom>
          <a:solidFill>
            <a:srgbClr val="2A1F00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2040" y="4078224"/>
            <a:ext cx="274320" cy="27432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257800" y="404164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Northeast/North marketplace expansion campaigns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0" y="0"/>
            <a:ext cx="45720" cy="51435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91440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" y="2606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566160" y="64008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566160" y="1280160"/>
            <a:ext cx="5029200" cy="3657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50876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13632" y="148132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handled R$16M+ in revenue across 99K orders with a strong 91.9% on-time delivery record.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25856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13632" y="2231136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and seller concentration pose strategic risks — addressable through logistics partnerships and seller onboarding.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008376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913632" y="2980944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satisfaction scores (4.09/5) confirm platform quality; sustaining this as volume scales is the key challenge.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758184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913632" y="373075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enables ongoing monitoring of all KPIs identified in this analysis.</a:t>
            </a: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3566160" y="4553712"/>
            <a:ext cx="5120640" cy="27432"/>
          </a:xfrm>
          <a:prstGeom prst="rect">
            <a:avLst/>
          </a:prstGeom>
          <a:solidFill>
            <a:srgbClr val="8AA0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0"/>
          <p:cNvSpPr/>
          <p:nvPr/>
        </p:nvSpPr>
        <p:spPr>
          <a:xfrm>
            <a:off x="3566160" y="46634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·  Olist Public Dataset (Kaggle)  ·  Tools: Python · SQL · Power BI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730</Words>
  <Application>Microsoft Office PowerPoint</Application>
  <PresentationFormat>On-screen Show (16:9)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E-Commerce Analysis</dc:title>
  <dc:subject>PptxGenJS Presentation</dc:subject>
  <dc:creator>PptxGenJS</dc:creator>
  <cp:lastModifiedBy>Priyash Vasava</cp:lastModifiedBy>
  <cp:revision>11</cp:revision>
  <dcterms:created xsi:type="dcterms:W3CDTF">2026-04-15T19:31:59Z</dcterms:created>
  <dcterms:modified xsi:type="dcterms:W3CDTF">2026-04-16T14:19:53Z</dcterms:modified>
</cp:coreProperties>
</file>